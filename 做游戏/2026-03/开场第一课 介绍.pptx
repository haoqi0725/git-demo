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" presetClass="entr" presetSubtype="0" fill="hold" grpId="0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grpId="0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grpId="0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grpId="0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grpId="0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3" grpId="1" build="p">
        <p:tmplLst>
          <p:tmpl lvl="1">
            <p:tnLst>
              <p:par>
                <p:cTn presetID="1" presetClass="entr" presetSubtype="0" fill="hold" grpId="1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grpId="1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grpId="1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grpId="1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grpId="1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680"/>
            <a:ext cx="9144000" cy="1518285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chemeClr val="tx1"/>
                </a:solidFill>
              </a:rPr>
              <a:t>封面</a:t>
            </a:r>
            <a:br>
              <a:rPr lang="zh-CN" altLang="en-US"/>
            </a:br>
            <a:br>
              <a:rPr lang="zh-CN" altLang="en-US"/>
            </a:b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2698115"/>
            <a:ext cx="9144000" cy="2980055"/>
          </a:xfrm>
        </p:spPr>
        <p:txBody>
          <a:bodyPr>
            <a:normAutofit/>
          </a:bodyPr>
          <a:p>
            <a:r>
              <a:rPr lang="zh-CN" altLang="en-US" sz="6000">
                <a:solidFill>
                  <a:schemeClr val="accent1"/>
                </a:solidFill>
                <a:sym typeface="+mn-ea"/>
              </a:rPr>
              <a:t>面向对象程序设计（</a:t>
            </a:r>
            <a:r>
              <a:rPr lang="en-US" altLang="zh-CN" sz="6000">
                <a:solidFill>
                  <a:schemeClr val="accent1"/>
                </a:solidFill>
                <a:sym typeface="+mn-ea"/>
              </a:rPr>
              <a:t>C++</a:t>
            </a:r>
            <a:r>
              <a:rPr lang="zh-CN" altLang="en-US" sz="6000">
                <a:solidFill>
                  <a:schemeClr val="accent1"/>
                </a:solidFill>
                <a:sym typeface="+mn-ea"/>
              </a:rPr>
              <a:t>）</a:t>
            </a:r>
            <a:endParaRPr lang="zh-CN" altLang="en-US" sz="6000">
              <a:solidFill>
                <a:schemeClr val="accent1"/>
              </a:solidFill>
              <a:sym typeface="+mn-ea"/>
            </a:endParaRPr>
          </a:p>
          <a:p>
            <a:r>
              <a:rPr lang="en-US" altLang="zh-CN"/>
              <a:t>                                 ------</a:t>
            </a:r>
            <a:r>
              <a:rPr lang="en-US" altLang="zh-CN">
                <a:solidFill>
                  <a:srgbClr val="FF0000"/>
                </a:solidFill>
              </a:rPr>
              <a:t>C++ </a:t>
            </a:r>
            <a:r>
              <a:rPr lang="zh-CN" altLang="en-US">
                <a:solidFill>
                  <a:srgbClr val="FF0000"/>
                </a:solidFill>
              </a:rPr>
              <a:t>工程实践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C++ </a:t>
            </a:r>
            <a:r>
              <a:rPr lang="zh-CN" altLang="en-US">
                <a:sym typeface="+mn-ea"/>
              </a:rPr>
              <a:t>工程实践</a:t>
            </a:r>
            <a:r>
              <a:rPr lang="en-US" altLang="zh-CN">
                <a:sym typeface="+mn-ea"/>
              </a:rPr>
              <a:t> ---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AI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时代的软件工程启蒙</a:t>
            </a:r>
            <a:endParaRPr lang="en-US" altLang="zh-CN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53515"/>
            <a:ext cx="6623685" cy="4837430"/>
          </a:xfrm>
        </p:spPr>
        <p:txBody>
          <a:bodyPr>
            <a:normAutofit lnSpcReduction="20000"/>
          </a:bodyPr>
          <a:p>
            <a:endParaRPr lang="zh-CN" altLang="en-US"/>
          </a:p>
          <a:p>
            <a:r>
              <a:rPr lang="zh-CN" altLang="en-US"/>
              <a:t>教师：陈良银，</a:t>
            </a:r>
            <a:r>
              <a:rPr lang="en-US" altLang="zh-CN"/>
              <a:t> 13388197296</a:t>
            </a:r>
            <a:r>
              <a:rPr lang="zh-CN" altLang="en-US"/>
              <a:t>，</a:t>
            </a:r>
            <a:r>
              <a:rPr lang="en-US" altLang="zh-CN"/>
              <a:t>chenliangyin@scu.edu.cn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学期：</a:t>
            </a:r>
            <a:r>
              <a:rPr lang="en-US"/>
              <a:t>2026</a:t>
            </a:r>
            <a:r>
              <a:rPr lang="zh-CN" altLang="en-US"/>
              <a:t>年</a:t>
            </a:r>
            <a:endParaRPr lang="en-US" altLang="zh-CN"/>
          </a:p>
          <a:p>
            <a:endParaRPr lang="en-US" altLang="zh-CN"/>
          </a:p>
          <a:p>
            <a:endParaRPr lang="zh-CN" altLang="en-US"/>
          </a:p>
          <a:p>
            <a:endParaRPr lang="zh-CN" altLang="en-US"/>
          </a:p>
          <a:p>
            <a:endParaRPr lang="en-US" altLang="zh-CN"/>
          </a:p>
          <a:p>
            <a:r>
              <a:rPr lang="en-US" altLang="zh-CN"/>
              <a:t>        </a:t>
            </a:r>
            <a:r>
              <a:rPr lang="zh-CN" altLang="en-US">
                <a:solidFill>
                  <a:srgbClr val="FF0000"/>
                </a:solidFill>
              </a:rPr>
              <a:t>准备好开启你的创造之旅了吗？</a:t>
            </a:r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885" y="1388745"/>
            <a:ext cx="3902710" cy="49028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>
                <a:solidFill>
                  <a:schemeClr val="accent1"/>
                </a:solidFill>
                <a:sym typeface="+mn-ea"/>
              </a:rPr>
              <a:t>这门课可以不一样吗？</a:t>
            </a:r>
            <a:r>
              <a:rPr lang="en-US" altLang="zh-CN">
                <a:solidFill>
                  <a:schemeClr val="accent1"/>
                </a:solidFill>
                <a:sym typeface="+mn-ea"/>
              </a:rPr>
              <a:t> ---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未来工程师的起点！</a:t>
            </a:r>
            <a:endParaRPr lang="zh-CN" altLang="en-US">
              <a:solidFill>
                <a:schemeClr val="accent1"/>
              </a:solidFill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en-US" altLang="zh-CN"/>
              <a:t>“</a:t>
            </a:r>
            <a:r>
              <a:rPr lang="zh-CN" altLang="en-US"/>
              <a:t>我们可以改变吗？</a:t>
            </a:r>
            <a:r>
              <a:rPr lang="en-US" altLang="zh-CN"/>
              <a:t>”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en-US" altLang="zh-CN"/>
              <a:t>“</a:t>
            </a:r>
            <a:r>
              <a:rPr lang="zh-CN" altLang="en-US"/>
              <a:t>你们中有多少人写过</a:t>
            </a:r>
            <a:r>
              <a:rPr lang="en-US" altLang="zh-CN"/>
              <a:t>C++</a:t>
            </a:r>
            <a:r>
              <a:rPr lang="zh-CN" altLang="en-US"/>
              <a:t>程序？</a:t>
            </a:r>
            <a:r>
              <a:rPr lang="en-US" altLang="zh-CN"/>
              <a:t>”</a:t>
            </a:r>
            <a:endParaRPr lang="en-US" altLang="zh-CN"/>
          </a:p>
          <a:p>
            <a:endParaRPr lang="zh-CN" altLang="en-US"/>
          </a:p>
          <a:p>
            <a:pPr marL="0" indent="0">
              <a:buNone/>
            </a:pPr>
            <a:r>
              <a:rPr lang="en-US" altLang="zh-CN"/>
              <a:t>“</a:t>
            </a:r>
            <a:r>
              <a:rPr lang="zh-CN" altLang="en-US"/>
              <a:t>有多少人玩过</a:t>
            </a:r>
            <a:r>
              <a:rPr lang="en-US" altLang="zh-CN"/>
              <a:t>3D</a:t>
            </a:r>
            <a:r>
              <a:rPr lang="zh-CN" altLang="en-US"/>
              <a:t>游戏？</a:t>
            </a:r>
            <a:r>
              <a:rPr lang="zh-CN" altLang="en-US">
                <a:solidFill>
                  <a:srgbClr val="FF0000"/>
                </a:solidFill>
              </a:rPr>
              <a:t>想过自己做一款吗？</a:t>
            </a:r>
            <a:r>
              <a:rPr lang="en-US" altLang="zh-CN"/>
              <a:t>”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olidFill>
                  <a:schemeClr val="tx1"/>
                </a:solidFill>
                <a:sym typeface="+mn-ea"/>
              </a:rPr>
              <a:t>有啥不一样？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告别传统，拥抱创造</a:t>
            </a:r>
            <a:endParaRPr lang="zh-CN" altLang="en-US">
              <a:solidFill>
                <a:srgbClr val="FF0000"/>
              </a:solidFill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zh-CN" altLang="en-US">
                <a:solidFill>
                  <a:srgbClr val="FF0000"/>
                </a:solidFill>
              </a:rPr>
              <a:t>传统</a:t>
            </a:r>
            <a:r>
              <a:rPr lang="en-US" altLang="zh-CN">
                <a:solidFill>
                  <a:srgbClr val="FF0000"/>
                </a:solidFill>
              </a:rPr>
              <a:t>C++</a:t>
            </a:r>
            <a:r>
              <a:rPr lang="zh-CN" altLang="en-US">
                <a:solidFill>
                  <a:srgbClr val="FF0000"/>
                </a:solidFill>
              </a:rPr>
              <a:t>教学</a:t>
            </a:r>
            <a:r>
              <a:rPr lang="zh-CN" altLang="en-US"/>
              <a:t>：语法点讲解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习题练习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期末考试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学完忘光</a:t>
            </a:r>
            <a:endParaRPr lang="zh-CN" altLang="en-US"/>
          </a:p>
          <a:p>
            <a:endParaRPr lang="en-US" altLang="zh-CN"/>
          </a:p>
          <a:p>
            <a:r>
              <a:rPr lang="zh-CN" altLang="en-US">
                <a:solidFill>
                  <a:srgbClr val="FF0000"/>
                </a:solidFill>
              </a:rPr>
              <a:t>本课程</a:t>
            </a:r>
            <a:r>
              <a:rPr lang="zh-CN" altLang="en-US"/>
              <a:t>：项目驱动（</a:t>
            </a:r>
            <a:r>
              <a:rPr lang="en-US" altLang="zh-CN"/>
              <a:t>3D</a:t>
            </a:r>
            <a:r>
              <a:rPr lang="zh-CN" altLang="en-US"/>
              <a:t>游戏）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遇到问题学语法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AI</a:t>
            </a:r>
            <a:r>
              <a:rPr lang="zh-CN" altLang="en-US"/>
              <a:t>辅助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学会学习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希望：</a:t>
            </a:r>
            <a:r>
              <a:rPr lang="en-US" altLang="zh-CN"/>
              <a:t>“</a:t>
            </a:r>
            <a:r>
              <a:rPr lang="zh-CN" altLang="en-US"/>
              <a:t>我们不是教</a:t>
            </a:r>
            <a:r>
              <a:rPr lang="en-US" altLang="zh-CN"/>
              <a:t>C++</a:t>
            </a:r>
            <a:r>
              <a:rPr lang="zh-CN" altLang="en-US"/>
              <a:t>，而是教你用</a:t>
            </a:r>
            <a:r>
              <a:rPr lang="en-US" altLang="zh-CN"/>
              <a:t>C++</a:t>
            </a:r>
            <a:r>
              <a:rPr lang="zh-CN" altLang="en-US"/>
              <a:t>创造自己的游戏，顺便掌握</a:t>
            </a:r>
            <a:r>
              <a:rPr lang="en-US" altLang="zh-CN"/>
              <a:t>C++</a:t>
            </a:r>
            <a:r>
              <a:rPr lang="zh-CN" altLang="en-US"/>
              <a:t>。</a:t>
            </a:r>
            <a:r>
              <a:rPr lang="en-US" altLang="zh-CN"/>
              <a:t>”</a:t>
            </a:r>
            <a:endParaRPr lang="en-US" altLang="zh-CN"/>
          </a:p>
          <a:p>
            <a:pPr marL="0" indent="0">
              <a:buNone/>
            </a:pP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>
                <a:sym typeface="+mn-ea"/>
              </a:rPr>
              <a:t>程序员需要什么？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未来已来，你准备好了吗？</a:t>
            </a:r>
            <a:endParaRPr lang="zh-CN" altLang="en-US">
              <a:solidFill>
                <a:srgbClr val="FF0000"/>
              </a:solidFill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zh-CN" altLang="en-US"/>
              <a:t>分组讨论</a:t>
            </a:r>
            <a:r>
              <a:rPr lang="en-US" altLang="zh-CN"/>
              <a:t>2</a:t>
            </a:r>
            <a:r>
              <a:rPr lang="zh-CN" altLang="en-US"/>
              <a:t>分钟，每组说一个关键词：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总结：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与</a:t>
            </a:r>
            <a:r>
              <a:rPr lang="en-US" altLang="zh-CN">
                <a:solidFill>
                  <a:schemeClr val="tx1"/>
                </a:solidFill>
              </a:rPr>
              <a:t>AI</a:t>
            </a:r>
            <a:r>
              <a:rPr lang="zh-CN" altLang="en-US">
                <a:solidFill>
                  <a:schemeClr val="tx1"/>
                </a:solidFill>
              </a:rPr>
              <a:t>协作的能力（提问、审查、优化）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系统设计思维（拆解复杂问题）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快速学习新技术的习惯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工程实践规范（版本控制、测试、文档）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团队沟通与协作</a:t>
            </a:r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我们的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共同目标</a:t>
            </a:r>
            <a:r>
              <a:rPr lang="zh-CN" altLang="en-US">
                <a:sym typeface="+mn-ea"/>
              </a:rPr>
              <a:t>是啥？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91285"/>
            <a:ext cx="10515600" cy="5358765"/>
          </a:xfrm>
        </p:spPr>
        <p:txBody>
          <a:bodyPr>
            <a:normAutofit fontScale="75000"/>
          </a:bodyPr>
          <a:p>
            <a:r>
              <a:rPr lang="en-US" altLang="zh-CN">
                <a:solidFill>
                  <a:srgbClr val="FF0000"/>
                </a:solidFill>
              </a:rPr>
              <a:t>3D</a:t>
            </a:r>
            <a:r>
              <a:rPr lang="zh-CN" altLang="en-US">
                <a:solidFill>
                  <a:srgbClr val="FF0000"/>
                </a:solidFill>
              </a:rPr>
              <a:t>打砖块游戏（</a:t>
            </a:r>
            <a:r>
              <a:rPr lang="en-US" altLang="zh-CN">
                <a:solidFill>
                  <a:srgbClr val="FF0000"/>
                </a:solidFill>
              </a:rPr>
              <a:t>Breakout in 3D</a:t>
            </a:r>
            <a:r>
              <a:rPr lang="zh-CN" altLang="en-US">
                <a:solidFill>
                  <a:srgbClr val="FF0000"/>
                </a:solidFill>
              </a:rPr>
              <a:t>）</a:t>
            </a:r>
            <a:r>
              <a:rPr lang="zh-CN" altLang="en-US"/>
              <a:t>，基线功能：</a:t>
            </a:r>
            <a:endParaRPr lang="zh-CN" altLang="en-US"/>
          </a:p>
          <a:p>
            <a:r>
              <a:rPr lang="en-US" altLang="zh-CN"/>
              <a:t>3D</a:t>
            </a:r>
            <a:r>
              <a:rPr lang="zh-CN" altLang="en-US"/>
              <a:t>场景（板、球、砖块）</a:t>
            </a:r>
            <a:endParaRPr lang="zh-CN" altLang="en-US"/>
          </a:p>
          <a:p>
            <a:r>
              <a:rPr lang="zh-CN" altLang="en-US"/>
              <a:t>物理碰撞（球板、球砖）</a:t>
            </a:r>
            <a:endParaRPr lang="zh-CN" altLang="en-US"/>
          </a:p>
          <a:p>
            <a:r>
              <a:rPr lang="zh-CN" altLang="en-US"/>
              <a:t>计分系统、生命值</a:t>
            </a:r>
            <a:endParaRPr lang="zh-CN" altLang="en-US"/>
          </a:p>
          <a:p>
            <a:r>
              <a:rPr lang="zh-CN" altLang="en-US"/>
              <a:t>游戏状态（运行、暂停、结束）</a:t>
            </a:r>
            <a:endParaRPr lang="zh-CN" altLang="en-US"/>
          </a:p>
          <a:p>
            <a:r>
              <a:rPr lang="zh-CN" altLang="en-US"/>
              <a:t>可扩展方向（激发创意）：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多关卡设计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/>
              <a:t>道具系统（加长板、多球）</a:t>
            </a:r>
            <a:endParaRPr lang="zh-CN" altLang="en-US"/>
          </a:p>
          <a:p>
            <a:r>
              <a:rPr lang="zh-CN" altLang="en-US"/>
              <a:t>音效与粒子特效</a:t>
            </a:r>
            <a:endParaRPr lang="zh-CN" altLang="en-US"/>
          </a:p>
          <a:p>
            <a:r>
              <a:rPr lang="zh-CN" altLang="en-US"/>
              <a:t>自定义模型与纹理</a:t>
            </a:r>
            <a:endParaRPr lang="zh-CN" altLang="en-US"/>
          </a:p>
          <a:p>
            <a:r>
              <a:rPr lang="zh-CN" altLang="en-US"/>
              <a:t>存档</a:t>
            </a:r>
            <a:r>
              <a:rPr lang="en-US" altLang="zh-CN"/>
              <a:t>/</a:t>
            </a:r>
            <a:r>
              <a:rPr lang="zh-CN" altLang="en-US"/>
              <a:t>读档</a:t>
            </a:r>
            <a:endParaRPr lang="zh-CN" altLang="en-US"/>
          </a:p>
          <a:p>
            <a:r>
              <a:rPr lang="zh-CN" altLang="en-US"/>
              <a:t>联网对战（高阶）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考核标准：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如何衡量成功？</a:t>
            </a:r>
            <a:endParaRPr lang="zh-CN" altLang="en-US">
              <a:solidFill>
                <a:srgbClr val="FF0000"/>
              </a:solidFill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603375"/>
            <a:ext cx="10515600" cy="5073015"/>
          </a:xfrm>
        </p:spPr>
        <p:txBody>
          <a:bodyPr>
            <a:normAutofit fontScale="75000"/>
          </a:bodyPr>
          <a:p>
            <a:r>
              <a:rPr lang="zh-CN" altLang="en-US">
                <a:solidFill>
                  <a:srgbClr val="FF0000"/>
                </a:solidFill>
              </a:rPr>
              <a:t>考核维度</a:t>
            </a:r>
            <a:r>
              <a:rPr lang="zh-CN" altLang="en-US"/>
              <a:t>（共同确定）：</a:t>
            </a:r>
            <a:endParaRPr lang="zh-CN" altLang="en-US"/>
          </a:p>
          <a:p>
            <a:r>
              <a:rPr lang="zh-CN" altLang="en-US"/>
              <a:t>项目完成度（</a:t>
            </a:r>
            <a:r>
              <a:rPr lang="en-US" altLang="zh-CN"/>
              <a:t>50%</a:t>
            </a:r>
            <a:r>
              <a:rPr lang="zh-CN" altLang="en-US"/>
              <a:t>）：基础功能全实现，扩展功能加分</a:t>
            </a:r>
            <a:endParaRPr lang="zh-CN" altLang="en-US"/>
          </a:p>
          <a:p>
            <a:r>
              <a:rPr lang="zh-CN" altLang="en-US"/>
              <a:t>代码质量与工程实践（</a:t>
            </a:r>
            <a:r>
              <a:rPr lang="en-US" altLang="zh-CN"/>
              <a:t>30%</a:t>
            </a:r>
            <a:r>
              <a:rPr lang="zh-CN" altLang="en-US"/>
              <a:t>）：</a:t>
            </a:r>
            <a:endParaRPr lang="zh-CN" altLang="en-US"/>
          </a:p>
          <a:p>
            <a:r>
              <a:rPr lang="en-US" altLang="zh-CN"/>
              <a:t>Git</a:t>
            </a:r>
            <a:r>
              <a:rPr lang="zh-CN" altLang="en-US"/>
              <a:t>规范提交</a:t>
            </a:r>
            <a:endParaRPr lang="zh-CN" altLang="en-US"/>
          </a:p>
          <a:p>
            <a:r>
              <a:rPr lang="zh-CN" altLang="en-US"/>
              <a:t>单元测试覆盖率</a:t>
            </a:r>
            <a:endParaRPr lang="zh-CN" altLang="en-US"/>
          </a:p>
          <a:p>
            <a:r>
              <a:rPr lang="zh-CN" altLang="en-US"/>
              <a:t>代码风格与注释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设计文档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/>
              <a:t>过程与展示（</a:t>
            </a:r>
            <a:r>
              <a:rPr lang="en-US" altLang="zh-CN"/>
              <a:t>20%</a:t>
            </a:r>
            <a:r>
              <a:rPr lang="zh-CN" altLang="en-US"/>
              <a:t>）：</a:t>
            </a:r>
            <a:endParaRPr lang="zh-CN" altLang="en-US"/>
          </a:p>
          <a:p>
            <a:r>
              <a:rPr lang="zh-CN" altLang="en-US"/>
              <a:t>每周</a:t>
            </a:r>
            <a:r>
              <a:rPr lang="en-US" altLang="zh-CN"/>
              <a:t>AI</a:t>
            </a:r>
            <a:r>
              <a:rPr lang="zh-CN" altLang="en-US"/>
              <a:t>使用报告</a:t>
            </a:r>
            <a:endParaRPr lang="zh-CN" altLang="en-US"/>
          </a:p>
          <a:p>
            <a:r>
              <a:rPr lang="zh-CN" altLang="en-US"/>
              <a:t>最终路演表现</a:t>
            </a:r>
            <a:endParaRPr lang="zh-CN" altLang="en-US"/>
          </a:p>
          <a:p>
            <a:r>
              <a:rPr lang="zh-CN" altLang="en-US"/>
              <a:t>团队协作评价</a:t>
            </a:r>
            <a:endParaRPr lang="zh-CN" altLang="en-US"/>
          </a:p>
          <a:p>
            <a:r>
              <a:rPr lang="zh-CN" altLang="en-US"/>
              <a:t>强调：这不是考试，而是展示你创造力的舞台！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77290"/>
          </a:xfrm>
        </p:spPr>
        <p:txBody>
          <a:bodyPr/>
          <a:p>
            <a:r>
              <a:rPr lang="zh-CN" altLang="en-US">
                <a:solidFill>
                  <a:srgbClr val="FF0000"/>
                </a:solidFill>
              </a:rPr>
              <a:t>组队</a:t>
            </a:r>
            <a:r>
              <a:rPr lang="en-US" altLang="zh-CN"/>
              <a:t>:</a:t>
            </a:r>
            <a:r>
              <a:rPr lang="zh-CN" altLang="en-US">
                <a:sym typeface="+mn-ea"/>
              </a:rPr>
              <a:t>独行快，众行远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/>
          </a:bodyPr>
          <a:p>
            <a:r>
              <a:rPr lang="zh-CN" altLang="en-US">
                <a:solidFill>
                  <a:srgbClr val="FF0000"/>
                </a:solidFill>
              </a:rPr>
              <a:t>结对编程的优势：</a:t>
            </a:r>
            <a:endParaRPr lang="en-US" altLang="zh-CN">
              <a:solidFill>
                <a:srgbClr val="FF0000"/>
              </a:solidFill>
            </a:endParaRPr>
          </a:p>
          <a:p>
            <a:r>
              <a:rPr lang="zh-CN" altLang="en-US"/>
              <a:t>互相学习：一人驾驶（写代码），一人导航（思考）</a:t>
            </a:r>
            <a:endParaRPr lang="zh-CN" altLang="en-US"/>
          </a:p>
          <a:p>
            <a:r>
              <a:rPr lang="zh-CN" altLang="en-US"/>
              <a:t>减少</a:t>
            </a:r>
            <a:r>
              <a:rPr lang="en-US" altLang="zh-CN"/>
              <a:t>bug</a:t>
            </a:r>
            <a:r>
              <a:rPr lang="zh-CN" altLang="en-US"/>
              <a:t>：实时审查，即时发现错误</a:t>
            </a:r>
            <a:endParaRPr lang="en-US" altLang="zh-CN"/>
          </a:p>
          <a:p>
            <a:r>
              <a:rPr lang="zh-CN" altLang="en-US"/>
              <a:t>角色互换：避免疲劳，培养全面能力</a:t>
            </a:r>
            <a:endParaRPr lang="en-US" altLang="zh-CN"/>
          </a:p>
          <a:p>
            <a:r>
              <a:rPr lang="zh-CN" altLang="en-US"/>
              <a:t>沟通能力：提前适应真实工作场景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分组方式：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/>
              <a:t>自由组队（鼓励跨宿舍、跨背景）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每组</a:t>
            </a:r>
            <a:r>
              <a:rPr lang="en-US" altLang="zh-CN">
                <a:solidFill>
                  <a:srgbClr val="FF0000"/>
                </a:solidFill>
              </a:rPr>
              <a:t>2</a:t>
            </a:r>
            <a:r>
              <a:rPr lang="zh-CN" altLang="en-US">
                <a:solidFill>
                  <a:srgbClr val="FF0000"/>
                </a:solidFill>
              </a:rPr>
              <a:t>人</a:t>
            </a:r>
            <a:r>
              <a:rPr lang="zh-CN" altLang="en-US"/>
              <a:t>，奇数的话最后一组可</a:t>
            </a:r>
            <a:r>
              <a:rPr lang="en-US" altLang="zh-CN"/>
              <a:t>3</a:t>
            </a:r>
            <a:r>
              <a:rPr lang="zh-CN" altLang="en-US"/>
              <a:t>人（需明确分工）</a:t>
            </a:r>
            <a:endParaRPr lang="zh-CN" altLang="en-US"/>
          </a:p>
          <a:p>
            <a:r>
              <a:rPr lang="zh-CN" altLang="en-US"/>
              <a:t>可适当协调，确保每组能力互补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现在，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找到你的搭档！</a:t>
            </a:r>
            <a:endParaRPr lang="zh-CN" altLang="en-US">
              <a:solidFill>
                <a:srgbClr val="FF0000"/>
              </a:solidFill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zh-CN" altLang="en-US">
                <a:solidFill>
                  <a:srgbClr val="FF0000"/>
                </a:solidFill>
              </a:rPr>
              <a:t>时间：</a:t>
            </a:r>
            <a:r>
              <a:rPr lang="en-US" altLang="zh-CN">
                <a:solidFill>
                  <a:srgbClr val="FF0000"/>
                </a:solidFill>
              </a:rPr>
              <a:t>5</a:t>
            </a:r>
            <a:r>
              <a:rPr lang="zh-CN" altLang="en-US">
                <a:solidFill>
                  <a:srgbClr val="FF0000"/>
                </a:solidFill>
              </a:rPr>
              <a:t>分钟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/>
              <a:t>步骤：</a:t>
            </a:r>
            <a:endParaRPr lang="zh-CN" altLang="en-US"/>
          </a:p>
          <a:p>
            <a:r>
              <a:rPr lang="zh-CN" altLang="en-US"/>
              <a:t>学生自由走动，寻找队友</a:t>
            </a:r>
            <a:endParaRPr lang="zh-CN" altLang="en-US"/>
          </a:p>
          <a:p>
            <a:r>
              <a:rPr lang="zh-CN" altLang="en-US"/>
              <a:t>确定组长（负责提交作业）</a:t>
            </a:r>
            <a:endParaRPr lang="zh-CN" altLang="en-US"/>
          </a:p>
          <a:p>
            <a:r>
              <a:rPr lang="zh-CN" altLang="en-US"/>
              <a:t>记录组名和成员信息（发到课程群）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任务：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/>
              <a:t>课后一起安装环境</a:t>
            </a:r>
            <a:endParaRPr lang="zh-CN" altLang="en-US"/>
          </a:p>
          <a:p>
            <a:r>
              <a:rPr lang="zh-CN" altLang="en-US"/>
              <a:t>讨论你们想给游戏添加的</a:t>
            </a:r>
            <a:r>
              <a:rPr lang="en-US" altLang="zh-CN"/>
              <a:t>“</a:t>
            </a:r>
            <a:r>
              <a:rPr lang="zh-CN" altLang="en-US"/>
              <a:t>杀手级功能</a:t>
            </a:r>
            <a:r>
              <a:rPr lang="en-US" altLang="zh-CN"/>
              <a:t>”</a:t>
            </a:r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olidFill>
                  <a:srgbClr val="FF0000"/>
                </a:solidFill>
                <a:sym typeface="+mn-ea"/>
              </a:rPr>
              <a:t>工具链</a:t>
            </a:r>
            <a:r>
              <a:rPr lang="zh-CN" altLang="en-US">
                <a:sym typeface="+mn-ea"/>
              </a:rPr>
              <a:t>：工欲善其事，必先利其器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zh-CN" altLang="en-US">
                <a:solidFill>
                  <a:schemeClr val="accent1"/>
                </a:solidFill>
              </a:rPr>
              <a:t>核心工具列表</a:t>
            </a:r>
            <a:r>
              <a:rPr lang="zh-CN" altLang="en-US">
                <a:solidFill>
                  <a:srgbClr val="FF0000"/>
                </a:solidFill>
              </a:rPr>
              <a:t>：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en-US" altLang="zh-CN">
                <a:solidFill>
                  <a:srgbClr val="FF0000"/>
                </a:solidFill>
              </a:rPr>
              <a:t>VS Code</a:t>
            </a:r>
            <a:r>
              <a:rPr lang="zh-CN" altLang="en-US"/>
              <a:t>：轻量级编辑器，插件丰富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WSL</a:t>
            </a:r>
            <a:r>
              <a:rPr lang="zh-CN" altLang="en-US"/>
              <a:t>：</a:t>
            </a:r>
            <a:r>
              <a:rPr lang="en-US" altLang="zh-CN"/>
              <a:t>Windows</a:t>
            </a:r>
            <a:r>
              <a:rPr lang="zh-CN" altLang="en-US"/>
              <a:t>下的</a:t>
            </a:r>
            <a:r>
              <a:rPr lang="en-US" altLang="zh-CN"/>
              <a:t>Linux</a:t>
            </a:r>
            <a:r>
              <a:rPr lang="zh-CN" altLang="en-US"/>
              <a:t>环境，统一开发体验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Raylib</a:t>
            </a:r>
            <a:r>
              <a:rPr lang="zh-CN" altLang="en-US"/>
              <a:t>：极简</a:t>
            </a:r>
            <a:r>
              <a:rPr lang="en-US" altLang="zh-CN"/>
              <a:t>3D</a:t>
            </a:r>
            <a:r>
              <a:rPr lang="zh-CN" altLang="en-US"/>
              <a:t>游戏库，几十行代码就能画</a:t>
            </a:r>
            <a:r>
              <a:rPr lang="en-US" altLang="zh-CN"/>
              <a:t>3D</a:t>
            </a:r>
            <a:endParaRPr lang="en-US" altLang="zh-CN"/>
          </a:p>
          <a:p>
            <a:r>
              <a:rPr lang="en-US" altLang="zh-CN"/>
              <a:t>Git</a:t>
            </a:r>
            <a:r>
              <a:rPr lang="zh-CN" altLang="en-US"/>
              <a:t>：版本控制，记录每一步成长</a:t>
            </a:r>
            <a:endParaRPr lang="zh-CN" altLang="en-US"/>
          </a:p>
          <a:p>
            <a:r>
              <a:rPr lang="en-US" altLang="zh-CN"/>
              <a:t>GitHub Copilot</a:t>
            </a:r>
            <a:r>
              <a:rPr lang="zh-CN" altLang="en-US"/>
              <a:t>：</a:t>
            </a:r>
            <a:r>
              <a:rPr lang="en-US" altLang="zh-CN"/>
              <a:t>AI</a:t>
            </a:r>
            <a:r>
              <a:rPr lang="zh-CN" altLang="en-US"/>
              <a:t>结对编程助手（可选）</a:t>
            </a:r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rgbClr val="FF0000"/>
                </a:solidFill>
              </a:rPr>
              <a:t>WSL</a:t>
            </a:r>
            <a:r>
              <a:rPr lang="zh-CN" altLang="en-US">
                <a:solidFill>
                  <a:srgbClr val="FF0000"/>
                </a:solidFill>
              </a:rPr>
              <a:t>？</a:t>
            </a:r>
            <a:r>
              <a:rPr lang="zh-CN" altLang="en-US">
                <a:sym typeface="+mn-ea"/>
              </a:rPr>
              <a:t>告别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在我电脑上能跑</a:t>
            </a:r>
            <a:r>
              <a:rPr lang="en-US" altLang="zh-CN">
                <a:sym typeface="+mn-ea"/>
              </a:rPr>
              <a:t>”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zh-CN">
                <a:solidFill>
                  <a:srgbClr val="FF0000"/>
                </a:solidFill>
              </a:rPr>
              <a:t>WSL</a:t>
            </a:r>
            <a:r>
              <a:rPr lang="zh-CN" altLang="en-US">
                <a:solidFill>
                  <a:srgbClr val="FF0000"/>
                </a:solidFill>
              </a:rPr>
              <a:t>的优势：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/>
              <a:t>与生产环境一致（</a:t>
            </a:r>
            <a:r>
              <a:rPr lang="en-US" altLang="zh-CN"/>
              <a:t>Linux</a:t>
            </a:r>
            <a:r>
              <a:rPr lang="zh-CN" altLang="en-US"/>
              <a:t>是服务器主流）</a:t>
            </a:r>
            <a:endParaRPr lang="zh-CN" altLang="en-US"/>
          </a:p>
          <a:p>
            <a:r>
              <a:rPr lang="zh-CN" altLang="en-US"/>
              <a:t>避免</a:t>
            </a:r>
            <a:r>
              <a:rPr lang="en-US" altLang="zh-CN"/>
              <a:t>Windows</a:t>
            </a:r>
            <a:r>
              <a:rPr lang="zh-CN" altLang="en-US"/>
              <a:t>特有的路径、换行符问题</a:t>
            </a:r>
            <a:endParaRPr lang="zh-CN" altLang="en-US"/>
          </a:p>
          <a:p>
            <a:r>
              <a:rPr lang="en-US" altLang="zh-CN"/>
              <a:t>apt</a:t>
            </a:r>
            <a:r>
              <a:rPr lang="zh-CN" altLang="en-US"/>
              <a:t>一键安装依赖（如</a:t>
            </a:r>
            <a:r>
              <a:rPr lang="en-US" altLang="zh-CN"/>
              <a:t>Raylib</a:t>
            </a:r>
            <a:r>
              <a:rPr lang="zh-CN" altLang="en-US"/>
              <a:t>）</a:t>
            </a:r>
            <a:endParaRPr lang="zh-CN" altLang="en-US"/>
          </a:p>
          <a:p>
            <a:r>
              <a:rPr lang="zh-CN" altLang="en-US"/>
              <a:t>与</a:t>
            </a:r>
            <a:r>
              <a:rPr lang="en-US" altLang="zh-CN"/>
              <a:t>VS Code</a:t>
            </a:r>
            <a:r>
              <a:rPr lang="zh-CN" altLang="en-US"/>
              <a:t>无缝集成，调试方便</a:t>
            </a:r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rgbClr val="FF0000"/>
                </a:solidFill>
              </a:rPr>
              <a:t>Raylib</a:t>
            </a:r>
            <a:r>
              <a:rPr lang="en-US" altLang="zh-CN"/>
              <a:t>——3D</a:t>
            </a:r>
            <a:r>
              <a:rPr lang="zh-CN" altLang="en-US"/>
              <a:t>编程的</a:t>
            </a:r>
            <a:r>
              <a:rPr lang="en-US" altLang="zh-CN"/>
              <a:t>“</a:t>
            </a:r>
            <a:r>
              <a:rPr lang="zh-CN" altLang="en-US"/>
              <a:t>乐高</a:t>
            </a:r>
            <a:r>
              <a:rPr lang="en-US" altLang="zh-CN"/>
              <a:t>”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r>
              <a:rPr lang="zh-CN" altLang="en-US"/>
              <a:t>标题：简单到令人发指的</a:t>
            </a:r>
            <a:r>
              <a:rPr lang="en-US" altLang="zh-CN"/>
              <a:t>3D</a:t>
            </a:r>
            <a:r>
              <a:rPr lang="zh-CN" altLang="en-US"/>
              <a:t>库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包含：初始化窗口、设置摄像机、绘制立方体、游戏循环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强调：不需要精通</a:t>
            </a:r>
            <a:r>
              <a:rPr lang="en-US" altLang="zh-CN"/>
              <a:t>OpenGL</a:t>
            </a:r>
            <a:r>
              <a:rPr lang="zh-CN" altLang="en-US"/>
              <a:t>，只需用</a:t>
            </a:r>
            <a:r>
              <a:rPr lang="en-US" altLang="zh-CN"/>
              <a:t>Raylib</a:t>
            </a:r>
            <a:r>
              <a:rPr lang="zh-CN" altLang="en-US"/>
              <a:t>的</a:t>
            </a:r>
            <a:r>
              <a:rPr lang="en-US" altLang="zh-CN"/>
              <a:t>API</a:t>
            </a:r>
            <a:r>
              <a:rPr lang="zh-CN" altLang="en-US"/>
              <a:t>就能做出酷炫效果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rgbClr val="FF0000"/>
                </a:solidFill>
              </a:rPr>
              <a:t>Git</a:t>
            </a:r>
            <a:r>
              <a:rPr lang="en-US" altLang="zh-CN"/>
              <a:t>——</a:t>
            </a:r>
            <a:r>
              <a:rPr lang="zh-CN" altLang="en-US"/>
              <a:t>你的时光机，</a:t>
            </a:r>
            <a:r>
              <a:rPr lang="zh-CN" altLang="en-US">
                <a:sym typeface="+mn-ea"/>
              </a:rPr>
              <a:t>再也不怕改坏代码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43685"/>
            <a:ext cx="10515600" cy="4633595"/>
          </a:xfrm>
        </p:spPr>
        <p:txBody>
          <a:bodyPr>
            <a:normAutofit fontScale="80000"/>
          </a:bodyPr>
          <a:p>
            <a:r>
              <a:rPr lang="en-US" altLang="zh-CN">
                <a:solidFill>
                  <a:srgbClr val="FF0000"/>
                </a:solidFill>
              </a:rPr>
              <a:t>Git</a:t>
            </a:r>
            <a:r>
              <a:rPr lang="zh-CN" altLang="en-US">
                <a:solidFill>
                  <a:srgbClr val="FF0000"/>
                </a:solidFill>
              </a:rPr>
              <a:t>核心概念：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/>
              <a:t>每次提交就像存档，可以随时回退</a:t>
            </a:r>
            <a:endParaRPr lang="zh-CN" altLang="en-US"/>
          </a:p>
          <a:p>
            <a:r>
              <a:rPr lang="zh-CN" altLang="en-US"/>
              <a:t>分支可以同时实验多个功能</a:t>
            </a:r>
            <a:endParaRPr lang="zh-CN" altLang="en-US"/>
          </a:p>
          <a:p>
            <a:r>
              <a:rPr lang="zh-CN" altLang="en-US"/>
              <a:t>本地仓库完全够用，无需服务器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演示命令：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en-US" altLang="zh-CN"/>
              <a:t>bash</a:t>
            </a:r>
            <a:endParaRPr lang="en-US" altLang="zh-CN"/>
          </a:p>
          <a:p>
            <a:r>
              <a:rPr lang="en-US" altLang="zh-CN"/>
              <a:t>git init</a:t>
            </a:r>
            <a:endParaRPr lang="en-US" altLang="zh-CN"/>
          </a:p>
          <a:p>
            <a:r>
              <a:rPr lang="en-US" altLang="zh-CN"/>
              <a:t>git add .</a:t>
            </a:r>
            <a:endParaRPr lang="en-US" altLang="zh-CN"/>
          </a:p>
          <a:p>
            <a:r>
              <a:rPr lang="en-US" altLang="zh-CN"/>
              <a:t>git commit -m "</a:t>
            </a:r>
            <a:r>
              <a:rPr lang="zh-CN" altLang="en-US"/>
              <a:t>第一个旋转立方体</a:t>
            </a:r>
            <a:r>
              <a:rPr lang="en-US" altLang="zh-CN"/>
              <a:t>"</a:t>
            </a:r>
            <a:endParaRPr lang="en-US" altLang="zh-CN"/>
          </a:p>
          <a:p>
            <a:r>
              <a:rPr lang="en-US" altLang="zh-CN"/>
              <a:t>git log --oneline</a:t>
            </a:r>
            <a:endParaRPr lang="en-US" altLang="zh-C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GitHub Copilot——</a:t>
            </a:r>
            <a:r>
              <a:rPr lang="zh-CN" altLang="en-US"/>
              <a:t>你的</a:t>
            </a:r>
            <a:r>
              <a:rPr lang="en-US" altLang="zh-CN"/>
              <a:t>AI</a:t>
            </a:r>
            <a:r>
              <a:rPr lang="zh-CN" altLang="en-US"/>
              <a:t>搭档，</a:t>
            </a:r>
            <a:r>
              <a:rPr lang="zh-CN" altLang="en-US">
                <a:sym typeface="+mn-ea"/>
              </a:rPr>
              <a:t>让</a:t>
            </a:r>
            <a:r>
              <a:rPr lang="en-US" altLang="zh-CN">
                <a:sym typeface="+mn-ea"/>
              </a:rPr>
              <a:t>AI</a:t>
            </a:r>
            <a:r>
              <a:rPr lang="zh-CN" altLang="en-US">
                <a:sym typeface="+mn-ea"/>
              </a:rPr>
              <a:t>成为你的结对程序员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zh-CN">
                <a:solidFill>
                  <a:srgbClr val="FF0000"/>
                </a:solidFill>
              </a:rPr>
              <a:t>Copilot</a:t>
            </a:r>
            <a:r>
              <a:rPr lang="zh-CN" altLang="en-US">
                <a:solidFill>
                  <a:srgbClr val="FF0000"/>
                </a:solidFill>
              </a:rPr>
              <a:t>能做什么：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/>
              <a:t>根据注释生成代码</a:t>
            </a:r>
            <a:endParaRPr lang="zh-CN" altLang="en-US"/>
          </a:p>
          <a:p>
            <a:r>
              <a:rPr lang="zh-CN" altLang="en-US"/>
              <a:t>自动补全函数</a:t>
            </a:r>
            <a:endParaRPr lang="zh-CN" altLang="en-US"/>
          </a:p>
          <a:p>
            <a:r>
              <a:rPr lang="zh-CN" altLang="en-US"/>
              <a:t>解释复杂代码</a:t>
            </a:r>
            <a:endParaRPr lang="zh-CN" altLang="en-US"/>
          </a:p>
          <a:p>
            <a:r>
              <a:rPr lang="zh-CN" altLang="en-US"/>
              <a:t>提出重构建议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注意：</a:t>
            </a:r>
            <a:r>
              <a:rPr lang="zh-CN" altLang="en-US"/>
              <a:t>它只是一个工具，需要你判断对错</a:t>
            </a:r>
            <a:endParaRPr lang="zh-CN" altLang="en-US"/>
          </a:p>
          <a:p>
            <a:r>
              <a:rPr lang="zh-CN" altLang="en-US"/>
              <a:t>在</a:t>
            </a:r>
            <a:r>
              <a:rPr lang="en-US" altLang="zh-CN"/>
              <a:t>VS Code</a:t>
            </a:r>
            <a:r>
              <a:rPr lang="zh-CN" altLang="en-US"/>
              <a:t>中写注释</a:t>
            </a:r>
            <a:r>
              <a:rPr lang="en-US" altLang="zh-CN"/>
              <a:t>“// </a:t>
            </a:r>
            <a:r>
              <a:rPr lang="zh-CN" altLang="en-US"/>
              <a:t>创建一个窗口并显示旋转立方体</a:t>
            </a:r>
            <a:r>
              <a:rPr lang="en-US" altLang="zh-CN"/>
              <a:t>”</a:t>
            </a:r>
            <a:r>
              <a:rPr lang="zh-CN" altLang="en-US"/>
              <a:t>，看</a:t>
            </a:r>
            <a:r>
              <a:rPr lang="en-US" altLang="zh-CN"/>
              <a:t>Copilot</a:t>
            </a:r>
            <a:r>
              <a:rPr lang="zh-CN" altLang="en-US"/>
              <a:t>生成代码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AI</a:t>
            </a:r>
            <a:r>
              <a:rPr lang="zh-CN" altLang="en-US"/>
              <a:t>使用原则</a:t>
            </a:r>
            <a:r>
              <a:rPr lang="en-US" altLang="zh-CN"/>
              <a:t>——</a:t>
            </a:r>
            <a:r>
              <a:rPr lang="zh-CN" altLang="en-US">
                <a:solidFill>
                  <a:srgbClr val="FF0000"/>
                </a:solidFill>
              </a:rPr>
              <a:t>不要被</a:t>
            </a:r>
            <a:r>
              <a:rPr lang="en-US" altLang="zh-CN">
                <a:solidFill>
                  <a:srgbClr val="FF0000"/>
                </a:solidFill>
              </a:rPr>
              <a:t>AI</a:t>
            </a:r>
            <a:r>
              <a:rPr lang="zh-CN" altLang="en-US">
                <a:solidFill>
                  <a:srgbClr val="FF0000"/>
                </a:solidFill>
              </a:rPr>
              <a:t>控制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zh-CN" altLang="en-US"/>
              <a:t>你是驾驶员，</a:t>
            </a:r>
            <a:r>
              <a:rPr lang="en-US" altLang="zh-CN"/>
              <a:t>AI</a:t>
            </a:r>
            <a:r>
              <a:rPr lang="zh-CN" altLang="en-US"/>
              <a:t>是副驾驶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黄金法则：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/>
              <a:t>先思考，后</a:t>
            </a:r>
            <a:r>
              <a:rPr lang="en-US" altLang="zh-CN"/>
              <a:t>AI</a:t>
            </a:r>
            <a:r>
              <a:rPr lang="zh-CN" altLang="en-US"/>
              <a:t>：遇到问题先自己想算法，再用</a:t>
            </a:r>
            <a:r>
              <a:rPr lang="en-US" altLang="zh-CN"/>
              <a:t>AI</a:t>
            </a:r>
            <a:r>
              <a:rPr lang="zh-CN" altLang="en-US"/>
              <a:t>验证</a:t>
            </a:r>
            <a:endParaRPr lang="zh-CN" altLang="en-US"/>
          </a:p>
          <a:p>
            <a:r>
              <a:rPr lang="zh-CN" altLang="en-US"/>
              <a:t>审查</a:t>
            </a:r>
            <a:r>
              <a:rPr lang="en-US" altLang="zh-CN"/>
              <a:t>AI</a:t>
            </a:r>
            <a:r>
              <a:rPr lang="zh-CN" altLang="en-US"/>
              <a:t>代码：每行都要理解，不懂就问</a:t>
            </a:r>
            <a:r>
              <a:rPr lang="en-US" altLang="zh-CN"/>
              <a:t>AI“</a:t>
            </a:r>
            <a:r>
              <a:rPr lang="zh-CN" altLang="en-US"/>
              <a:t>为什么这样写</a:t>
            </a:r>
            <a:r>
              <a:rPr lang="en-US" altLang="zh-CN"/>
              <a:t>”</a:t>
            </a:r>
            <a:endParaRPr lang="en-US" altLang="zh-CN"/>
          </a:p>
          <a:p>
            <a:r>
              <a:rPr lang="zh-CN" altLang="en-US"/>
              <a:t>记录</a:t>
            </a:r>
            <a:r>
              <a:rPr lang="en-US" altLang="zh-CN"/>
              <a:t>AI</a:t>
            </a:r>
            <a:r>
              <a:rPr lang="zh-CN" altLang="en-US"/>
              <a:t>对话：每周提交</a:t>
            </a:r>
            <a:r>
              <a:rPr lang="en-US" altLang="zh-CN"/>
              <a:t>AI</a:t>
            </a:r>
            <a:r>
              <a:rPr lang="zh-CN" altLang="en-US"/>
              <a:t>使用报告，附上对话截图</a:t>
            </a:r>
            <a:endParaRPr lang="zh-CN" altLang="en-US"/>
          </a:p>
          <a:p>
            <a:r>
              <a:rPr lang="zh-CN" altLang="en-US"/>
              <a:t>伦理边界：直接复制</a:t>
            </a:r>
            <a:r>
              <a:rPr lang="en-US" altLang="zh-CN"/>
              <a:t>AI</a:t>
            </a:r>
            <a:r>
              <a:rPr lang="zh-CN" altLang="en-US"/>
              <a:t>代码交作业</a:t>
            </a:r>
            <a:r>
              <a:rPr lang="en-US" altLang="zh-CN"/>
              <a:t> = </a:t>
            </a:r>
            <a:r>
              <a:rPr lang="zh-CN" altLang="en-US"/>
              <a:t>抄袭</a:t>
            </a:r>
            <a:endParaRPr lang="zh-CN" altLang="en-US"/>
          </a:p>
          <a:p>
            <a:r>
              <a:rPr lang="zh-CN" altLang="en-US"/>
              <a:t>案例讨论：</a:t>
            </a:r>
            <a:r>
              <a:rPr lang="en-US" altLang="zh-CN"/>
              <a:t>AI</a:t>
            </a:r>
            <a:r>
              <a:rPr lang="zh-CN" altLang="en-US"/>
              <a:t>代码寻找潜在</a:t>
            </a:r>
            <a:r>
              <a:rPr lang="en-US" altLang="zh-CN"/>
              <a:t>bug</a:t>
            </a:r>
            <a:r>
              <a:rPr lang="zh-CN" altLang="en-US"/>
              <a:t>（如内存泄漏、未初始化变量）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olidFill>
                  <a:srgbClr val="FF0000"/>
                </a:solidFill>
              </a:rPr>
              <a:t>未来展望</a:t>
            </a:r>
            <a:r>
              <a:rPr lang="en-US" altLang="zh-CN"/>
              <a:t>——</a:t>
            </a:r>
            <a:r>
              <a:rPr lang="zh-CN" altLang="en-US"/>
              <a:t>四年后，有啥不同？</a:t>
            </a:r>
            <a:endParaRPr lang="zh-CN" altLang="en-US"/>
          </a:p>
        </p:txBody>
      </p:sp>
      <p:graphicFrame>
        <p:nvGraphicFramePr>
          <p:cNvPr id="5" name="内容占位符 4"/>
          <p:cNvGraphicFramePr/>
          <p:nvPr>
            <p:ph idx="1"/>
            <p:custDataLst>
              <p:tags r:id="rId1"/>
            </p:custDataLst>
          </p:nvPr>
        </p:nvGraphicFramePr>
        <p:xfrm>
          <a:off x="838200" y="1825625"/>
          <a:ext cx="10515600" cy="4094480"/>
        </p:xfrm>
        <a:graphic>
          <a:graphicData uri="http://schemas.openxmlformats.org/drawingml/2006/table">
            <a:tbl>
              <a:tblPr/>
              <a:tblGrid>
                <a:gridCol w="4944110"/>
                <a:gridCol w="5571490"/>
              </a:tblGrid>
              <a:tr h="534035">
                <a:tc>
                  <a:txBody>
                    <a:bodyPr/>
                    <a:p>
                      <a:pPr algn="l">
                        <a:lnSpc>
                          <a:spcPts val="940"/>
                        </a:lnSpc>
                      </a:pPr>
                      <a:r>
                        <a:rPr lang="zh-CN" altLang="en-US" sz="2800" b="0">
                          <a:latin typeface="quote-cjk-patch"/>
                          <a:ea typeface="quote-cjk-patch"/>
                        </a:rPr>
                        <a:t>传统学生</a:t>
                      </a:r>
                      <a:endParaRPr lang="zh-CN" altLang="en-US" sz="2800" b="0">
                        <a:latin typeface="quote-cjk-patch"/>
                        <a:ea typeface="quote-cjk-patch"/>
                      </a:endParaRPr>
                    </a:p>
                  </a:txBody>
                  <a:tcPr marL="0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ts val="940"/>
                        </a:lnSpc>
                      </a:pPr>
                      <a:r>
                        <a:rPr lang="zh-CN" altLang="en-US" sz="2800" b="0">
                          <a:latin typeface="quote-cjk-patch"/>
                          <a:ea typeface="quote-cjk-patch"/>
                        </a:rPr>
                        <a:t>我们</a:t>
                      </a:r>
                      <a:endParaRPr lang="zh-CN" altLang="en-US" sz="2800" b="0">
                        <a:latin typeface="quote-cjk-patch"/>
                        <a:ea typeface="quote-cjk-patch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31215">
                <a:tc>
                  <a:txBody>
                    <a:bodyPr/>
                    <a:p>
                      <a:pPr>
                        <a:lnSpc>
                          <a:spcPts val="940"/>
                        </a:lnSpc>
                      </a:pPr>
                      <a:r>
                        <a:rPr lang="zh-CN" altLang="en-US" sz="2800" b="0">
                          <a:latin typeface="quote-cjk-patch"/>
                          <a:ea typeface="quote-cjk-patch"/>
                        </a:rPr>
                        <a:t>学语法，做习题，考完忘</a:t>
                      </a:r>
                      <a:endParaRPr lang="zh-CN" altLang="en-US" sz="2800" b="0">
                        <a:latin typeface="quote-cjk-patch"/>
                        <a:ea typeface="quote-cjk-patch"/>
                      </a:endParaRPr>
                    </a:p>
                  </a:txBody>
                  <a:tcPr marL="0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940"/>
                        </a:lnSpc>
                      </a:pPr>
                      <a:r>
                        <a:rPr lang="zh-CN" altLang="en-US" sz="2800" b="0">
                          <a:latin typeface="quote-cjk-patch"/>
                          <a:ea typeface="quote-cjk-patch"/>
                        </a:rPr>
                        <a:t>做过完整的</a:t>
                      </a:r>
                      <a:r>
                        <a:rPr lang="en-US" altLang="zh-CN" sz="2800" b="0">
                          <a:latin typeface="quote-cjk-patch"/>
                          <a:ea typeface="quote-cjk-patch"/>
                        </a:rPr>
                        <a:t>3D</a:t>
                      </a:r>
                      <a:r>
                        <a:rPr lang="zh-CN" altLang="en-US" sz="2800" b="0">
                          <a:latin typeface="quote-cjk-patch"/>
                          <a:ea typeface="quote-cjk-patch"/>
                        </a:rPr>
                        <a:t>游戏，有作品集</a:t>
                      </a:r>
                      <a:endParaRPr lang="zh-CN" altLang="en-US" sz="2800" b="0">
                        <a:latin typeface="quote-cjk-patch"/>
                        <a:ea typeface="quote-cjk-patch"/>
                      </a:endParaRPr>
                    </a:p>
                  </a:txBody>
                  <a:tcPr marL="76517" marR="0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29310">
                <a:tc>
                  <a:txBody>
                    <a:bodyPr/>
                    <a:p>
                      <a:pPr>
                        <a:lnSpc>
                          <a:spcPts val="940"/>
                        </a:lnSpc>
                      </a:pPr>
                      <a:r>
                        <a:rPr lang="zh-CN" altLang="en-US" sz="2800" b="0">
                          <a:latin typeface="quote-cjk-patch"/>
                          <a:ea typeface="quote-cjk-patch"/>
                        </a:rPr>
                        <a:t>遇到问题先问老师</a:t>
                      </a:r>
                      <a:endParaRPr lang="zh-CN" altLang="en-US" sz="2800" b="0">
                        <a:latin typeface="quote-cjk-patch"/>
                        <a:ea typeface="quote-cjk-patch"/>
                      </a:endParaRPr>
                    </a:p>
                  </a:txBody>
                  <a:tcPr marL="0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940"/>
                        </a:lnSpc>
                      </a:pPr>
                      <a:r>
                        <a:rPr lang="zh-CN" altLang="en-US" sz="2800" b="0">
                          <a:latin typeface="quote-cjk-patch"/>
                          <a:ea typeface="quote-cjk-patch"/>
                        </a:rPr>
                        <a:t>先问</a:t>
                      </a:r>
                      <a:r>
                        <a:rPr lang="en-US" altLang="zh-CN" sz="2800" b="0">
                          <a:latin typeface="quote-cjk-patch"/>
                          <a:ea typeface="quote-cjk-patch"/>
                        </a:rPr>
                        <a:t>AI</a:t>
                      </a:r>
                      <a:r>
                        <a:rPr lang="zh-CN" altLang="en-US" sz="2800" b="0">
                          <a:latin typeface="quote-cjk-patch"/>
                          <a:ea typeface="quote-cjk-patch"/>
                        </a:rPr>
                        <a:t>，再查资料，最后讨论</a:t>
                      </a:r>
                      <a:endParaRPr lang="zh-CN" altLang="en-US" sz="2800" b="0">
                        <a:latin typeface="quote-cjk-patch"/>
                        <a:ea typeface="quote-cjk-patch"/>
                      </a:endParaRPr>
                    </a:p>
                  </a:txBody>
                  <a:tcPr marL="76517" marR="0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34670">
                <a:tc>
                  <a:txBody>
                    <a:bodyPr/>
                    <a:p>
                      <a:pPr>
                        <a:lnSpc>
                          <a:spcPts val="940"/>
                        </a:lnSpc>
                      </a:pPr>
                      <a:r>
                        <a:rPr lang="zh-CN" altLang="en-US" sz="2800" b="1">
                          <a:solidFill>
                            <a:srgbClr val="FF0000"/>
                          </a:solidFill>
                          <a:latin typeface="quote-cjk-patch"/>
                          <a:ea typeface="quote-cjk-patch"/>
                        </a:rPr>
                        <a:t>害怕新技术</a:t>
                      </a:r>
                      <a:endParaRPr lang="zh-CN" altLang="en-US" sz="2800" b="1">
                        <a:solidFill>
                          <a:srgbClr val="FF0000"/>
                        </a:solidFill>
                        <a:latin typeface="quote-cjk-patch"/>
                        <a:ea typeface="quote-cjk-patch"/>
                      </a:endParaRPr>
                    </a:p>
                  </a:txBody>
                  <a:tcPr marL="0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940"/>
                        </a:lnSpc>
                      </a:pPr>
                      <a:r>
                        <a:rPr lang="zh-CN" altLang="en-US" sz="2800" b="1">
                          <a:solidFill>
                            <a:srgbClr val="FF0000"/>
                          </a:solidFill>
                          <a:latin typeface="quote-cjk-patch"/>
                          <a:ea typeface="quote-cjk-patch"/>
                        </a:rPr>
                        <a:t>敢用</a:t>
                      </a:r>
                      <a:r>
                        <a:rPr lang="en-US" altLang="zh-CN" sz="2800" b="1">
                          <a:solidFill>
                            <a:srgbClr val="FF0000"/>
                          </a:solidFill>
                          <a:latin typeface="quote-cjk-patch"/>
                          <a:ea typeface="quote-cjk-patch"/>
                        </a:rPr>
                        <a:t>AI</a:t>
                      </a:r>
                      <a:r>
                        <a:rPr lang="zh-CN" altLang="en-US" sz="2800" b="1">
                          <a:solidFill>
                            <a:srgbClr val="FF0000"/>
                          </a:solidFill>
                          <a:latin typeface="quote-cjk-patch"/>
                          <a:ea typeface="quote-cjk-patch"/>
                        </a:rPr>
                        <a:t>快速上手任何新框架</a:t>
                      </a:r>
                      <a:endParaRPr lang="zh-CN" altLang="en-US" sz="2800" b="1">
                        <a:solidFill>
                          <a:srgbClr val="FF0000"/>
                        </a:solidFill>
                        <a:latin typeface="quote-cjk-patch"/>
                        <a:ea typeface="quote-cjk-patch"/>
                      </a:endParaRPr>
                    </a:p>
                  </a:txBody>
                  <a:tcPr marL="76517" marR="0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34035">
                <a:tc>
                  <a:txBody>
                    <a:bodyPr/>
                    <a:p>
                      <a:pPr>
                        <a:lnSpc>
                          <a:spcPts val="940"/>
                        </a:lnSpc>
                      </a:pPr>
                      <a:r>
                        <a:rPr lang="zh-CN" altLang="en-US" sz="2800" b="0">
                          <a:latin typeface="quote-cjk-patch"/>
                          <a:ea typeface="quote-cjk-patch"/>
                        </a:rPr>
                        <a:t>一个人闷头写</a:t>
                      </a:r>
                      <a:endParaRPr lang="zh-CN" altLang="en-US" sz="2800" b="0">
                        <a:latin typeface="quote-cjk-patch"/>
                        <a:ea typeface="quote-cjk-patch"/>
                      </a:endParaRPr>
                    </a:p>
                  </a:txBody>
                  <a:tcPr marL="0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940"/>
                        </a:lnSpc>
                      </a:pPr>
                      <a:r>
                        <a:rPr lang="zh-CN" altLang="en-US" sz="2800" b="0">
                          <a:latin typeface="quote-cjk-patch"/>
                          <a:ea typeface="quote-cjk-patch"/>
                        </a:rPr>
                        <a:t>习惯结对编程、代码审查</a:t>
                      </a:r>
                      <a:endParaRPr lang="zh-CN" altLang="en-US" sz="2800" b="0">
                        <a:latin typeface="quote-cjk-patch"/>
                        <a:ea typeface="quote-cjk-patch"/>
                      </a:endParaRPr>
                    </a:p>
                  </a:txBody>
                  <a:tcPr marL="76517" marR="0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31215">
                <a:tc>
                  <a:txBody>
                    <a:bodyPr/>
                    <a:p>
                      <a:pPr>
                        <a:lnSpc>
                          <a:spcPts val="940"/>
                        </a:lnSpc>
                      </a:pPr>
                      <a:r>
                        <a:rPr lang="zh-CN" altLang="en-US" sz="2800" b="0">
                          <a:latin typeface="quote-cjk-patch"/>
                          <a:ea typeface="quote-cjk-patch"/>
                        </a:rPr>
                        <a:t>简历上写“熟悉</a:t>
                      </a:r>
                      <a:r>
                        <a:rPr lang="en-US" altLang="zh-CN" sz="2800" b="0">
                          <a:latin typeface="quote-cjk-patch"/>
                          <a:ea typeface="quote-cjk-patch"/>
                        </a:rPr>
                        <a:t>C++”</a:t>
                      </a:r>
                      <a:endParaRPr lang="en-US" altLang="zh-CN" sz="2800" b="0">
                        <a:latin typeface="quote-cjk-patch"/>
                        <a:ea typeface="quote-cjk-patch"/>
                      </a:endParaRPr>
                    </a:p>
                  </a:txBody>
                  <a:tcPr marL="0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940"/>
                        </a:lnSpc>
                      </a:pPr>
                      <a:r>
                        <a:rPr lang="zh-CN" altLang="en-US" sz="2800" b="0">
                          <a:latin typeface="quote-cjk-patch"/>
                          <a:ea typeface="quote-cjk-patch"/>
                        </a:rPr>
                        <a:t>简历上附</a:t>
                      </a:r>
                      <a:r>
                        <a:rPr lang="en-US" altLang="zh-CN" sz="2800" b="0">
                          <a:latin typeface="quote-cjk-patch"/>
                          <a:ea typeface="quote-cjk-patch"/>
                        </a:rPr>
                        <a:t>GitHub</a:t>
                      </a:r>
                      <a:r>
                        <a:rPr lang="zh-CN" altLang="en-US" sz="2800" b="0">
                          <a:latin typeface="quote-cjk-patch"/>
                          <a:ea typeface="quote-cjk-patch"/>
                        </a:rPr>
                        <a:t>链接，有</a:t>
                      </a:r>
                      <a:r>
                        <a:rPr lang="en-US" altLang="zh-CN" sz="2800" b="0">
                          <a:latin typeface="quote-cjk-patch"/>
                          <a:ea typeface="quote-cjk-patch"/>
                        </a:rPr>
                        <a:t>Star</a:t>
                      </a:r>
                      <a:endParaRPr lang="en-US" altLang="zh-CN" sz="2800" b="0">
                        <a:latin typeface="quote-cjk-patch"/>
                        <a:ea typeface="quote-cjk-patch"/>
                      </a:endParaRPr>
                    </a:p>
                  </a:txBody>
                  <a:tcPr marL="76517" marR="0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olidFill>
                  <a:srgbClr val="FF0000"/>
                </a:solidFill>
              </a:rPr>
              <a:t>胜利第一步</a:t>
            </a:r>
            <a:r>
              <a:rPr lang="zh-CN" altLang="en-US"/>
              <a:t>：</a:t>
            </a:r>
            <a:r>
              <a:rPr lang="zh-CN" altLang="en-US">
                <a:sym typeface="+mn-ea"/>
              </a:rPr>
              <a:t>本周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件事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zh-CN" altLang="en-US">
                <a:solidFill>
                  <a:srgbClr val="FF0000"/>
                </a:solidFill>
              </a:rPr>
              <a:t>任务清单：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/>
              <a:t>安装环境：</a:t>
            </a:r>
            <a:r>
              <a:rPr lang="en-US" altLang="zh-CN"/>
              <a:t>VS Code + WSL + Raylib + Git</a:t>
            </a:r>
            <a:endParaRPr lang="en-US" altLang="zh-CN"/>
          </a:p>
          <a:p>
            <a:r>
              <a:rPr lang="zh-CN" altLang="en-US"/>
              <a:t>跑通第一个</a:t>
            </a:r>
            <a:r>
              <a:rPr lang="en-US" altLang="zh-CN"/>
              <a:t>3D</a:t>
            </a:r>
            <a:r>
              <a:rPr lang="zh-CN" altLang="en-US"/>
              <a:t>程序：旋转立方体，截图发课程群打卡</a:t>
            </a:r>
            <a:endParaRPr lang="zh-CN" altLang="en-US"/>
          </a:p>
          <a:p>
            <a:r>
              <a:rPr lang="zh-CN" altLang="en-US"/>
              <a:t>与队友讨论：你们想给打砖块游戏添加什么特色？下周分享</a:t>
            </a:r>
            <a:endParaRPr lang="zh-CN" altLang="en-US"/>
          </a:p>
          <a:p>
            <a:r>
              <a:rPr lang="zh-CN" altLang="en-US"/>
              <a:t>提交方式：截图</a:t>
            </a:r>
            <a:r>
              <a:rPr lang="en-US" altLang="zh-CN"/>
              <a:t>+</a:t>
            </a:r>
            <a:r>
              <a:rPr lang="zh-CN" altLang="en-US"/>
              <a:t>一句话感想，发到课程群</a:t>
            </a:r>
            <a:endParaRPr lang="zh-CN" altLang="en-US"/>
          </a:p>
          <a:p>
            <a:r>
              <a:rPr lang="zh-CN" altLang="en-US"/>
              <a:t>截止时间：下周一上课前</a:t>
            </a:r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遇到问题怎么办？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zh-CN" altLang="en-US">
                <a:solidFill>
                  <a:srgbClr val="FF0000"/>
                </a:solidFill>
              </a:rPr>
              <a:t>自助三步走</a:t>
            </a:r>
            <a:r>
              <a:rPr lang="zh-CN" altLang="en-US"/>
              <a:t>：</a:t>
            </a:r>
            <a:endParaRPr lang="zh-CN" altLang="en-US"/>
          </a:p>
          <a:p>
            <a:r>
              <a:rPr lang="zh-CN" altLang="en-US"/>
              <a:t>复制错误信息问</a:t>
            </a:r>
            <a:r>
              <a:rPr lang="en-US" altLang="zh-CN"/>
              <a:t>AI</a:t>
            </a:r>
            <a:r>
              <a:rPr lang="zh-CN" altLang="en-US"/>
              <a:t>（</a:t>
            </a:r>
            <a:r>
              <a:rPr lang="en-US" altLang="zh-CN"/>
              <a:t>ChatGPT</a:t>
            </a:r>
            <a:r>
              <a:rPr lang="zh-CN" altLang="en-US"/>
              <a:t>、</a:t>
            </a:r>
            <a:r>
              <a:rPr lang="en-US" altLang="zh-CN"/>
              <a:t>Copilot</a:t>
            </a:r>
            <a:r>
              <a:rPr lang="zh-CN" altLang="en-US"/>
              <a:t>）</a:t>
            </a:r>
            <a:endParaRPr lang="zh-CN" altLang="en-US"/>
          </a:p>
          <a:p>
            <a:r>
              <a:rPr lang="zh-CN" altLang="en-US"/>
              <a:t>在课程群提问，同学互助</a:t>
            </a:r>
            <a:endParaRPr lang="zh-CN" altLang="en-US"/>
          </a:p>
          <a:p>
            <a:r>
              <a:rPr lang="zh-CN" altLang="en-US"/>
              <a:t>找老师，但先尝试前两步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备选方案：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/>
              <a:t>如果</a:t>
            </a:r>
            <a:r>
              <a:rPr lang="en-US" altLang="zh-CN"/>
              <a:t>WSL</a:t>
            </a:r>
            <a:r>
              <a:rPr lang="zh-CN" altLang="en-US"/>
              <a:t>装不上，寻找虚拟机镜像</a:t>
            </a:r>
            <a:endParaRPr lang="zh-CN" altLang="en-US"/>
          </a:p>
          <a:p>
            <a:r>
              <a:rPr lang="zh-CN" altLang="en-US"/>
              <a:t>如果电脑配置低，可到机房或借同学电脑先体验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olidFill>
                  <a:srgbClr val="FF0000"/>
                </a:solidFill>
                <a:sym typeface="+mn-ea"/>
              </a:rPr>
              <a:t>一起创造，一起成长！</a:t>
            </a:r>
            <a:endParaRPr lang="zh-CN" altLang="en-US">
              <a:solidFill>
                <a:srgbClr val="FF0000"/>
              </a:solidFill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r>
              <a:rPr lang="zh-CN" altLang="en-US"/>
              <a:t>课程群二维码，见首部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教师联系方式（邮箱、办公地点），见首部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鼓励：</a:t>
            </a:r>
            <a:r>
              <a:rPr lang="en-US" altLang="zh-CN"/>
              <a:t>“13</a:t>
            </a:r>
            <a:r>
              <a:rPr lang="zh-CN" altLang="en-US"/>
              <a:t>周后，你将拥有自己的第一款</a:t>
            </a:r>
            <a:r>
              <a:rPr lang="en-US" altLang="zh-CN"/>
              <a:t>3D</a:t>
            </a:r>
            <a:r>
              <a:rPr lang="zh-CN" altLang="en-US"/>
              <a:t>游戏。期待你的作品！</a:t>
            </a:r>
            <a:r>
              <a:rPr lang="en-US" altLang="zh-CN"/>
              <a:t>”</a:t>
            </a:r>
            <a:endParaRPr lang="en-US" altLang="zh-CN"/>
          </a:p>
          <a:p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目标：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>
                <a:solidFill>
                  <a:srgbClr val="FF0000"/>
                </a:solidFill>
              </a:rPr>
              <a:t>思想注入、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目标共识、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团队组建、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工具详解、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en-US" altLang="zh-CN">
                <a:solidFill>
                  <a:srgbClr val="FF0000"/>
                </a:solidFill>
              </a:rPr>
              <a:t>AI</a:t>
            </a:r>
            <a:r>
              <a:rPr lang="zh-CN" altLang="en-US">
                <a:solidFill>
                  <a:srgbClr val="FF0000"/>
                </a:solidFill>
              </a:rPr>
              <a:t>伦理、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未来展望、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第一周任务</a:t>
            </a:r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651*266"/>
  <p:tag name="TABLE_ENDDRAG_RECT" val="82*197*651*266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2208</Words>
  <Application>WPS 演示</Application>
  <PresentationFormat>宽屏</PresentationFormat>
  <Paragraphs>228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9" baseType="lpstr">
      <vt:lpstr>Arial</vt:lpstr>
      <vt:lpstr>宋体</vt:lpstr>
      <vt:lpstr>Wingdings</vt:lpstr>
      <vt:lpstr>微软雅黑</vt:lpstr>
      <vt:lpstr>Calibri</vt:lpstr>
      <vt:lpstr>Arial Unicode MS</vt:lpstr>
      <vt:lpstr>quote-cjk-patch</vt:lpstr>
      <vt:lpstr>Segoe Print</vt:lpstr>
      <vt:lpstr>WPS</vt:lpstr>
      <vt:lpstr>封面  </vt:lpstr>
      <vt:lpstr>C++ 工程实践 ---AI时代的软件工程启蒙</vt:lpstr>
      <vt:lpstr>这门课可以不一样吗？ ---未来工程师的起点！</vt:lpstr>
      <vt:lpstr>有啥不一样？告别传统，拥抱创造</vt:lpstr>
      <vt:lpstr>程序员需要什么？未来已来，你准备好了吗？</vt:lpstr>
      <vt:lpstr>我们的共同目标是啥？</vt:lpstr>
      <vt:lpstr>考核标准：如何衡量成功？</vt:lpstr>
      <vt:lpstr>组队:独行快，众行远</vt:lpstr>
      <vt:lpstr>现在，找到你的搭档！</vt:lpstr>
      <vt:lpstr>工具链：工欲善其事，必先利其器</vt:lpstr>
      <vt:lpstr>WSL？告别“在我电脑上能跑”</vt:lpstr>
      <vt:lpstr>Raylib——3D编程的“乐高”</vt:lpstr>
      <vt:lpstr>Git——你的时光机，再也不怕改坏代码</vt:lpstr>
      <vt:lpstr>GitHub Copilot——你的AI搭档，让AI成为你的结对程序员</vt:lpstr>
      <vt:lpstr>AI使用原则——不要被AI控制</vt:lpstr>
      <vt:lpstr>未来展望——四年后，有啥不同？</vt:lpstr>
      <vt:lpstr>胜利第一步：本周3件事</vt:lpstr>
      <vt:lpstr>遇到问题怎么办？</vt:lpstr>
      <vt:lpstr>一起创造，一起成长！</vt:lpstr>
      <vt:lpstr>目标：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东艮艮</cp:lastModifiedBy>
  <cp:revision>43</cp:revision>
  <dcterms:created xsi:type="dcterms:W3CDTF">2023-08-09T12:44:00Z</dcterms:created>
  <dcterms:modified xsi:type="dcterms:W3CDTF">2026-03-09T05:55:10Z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51650A9390DE4427B6B2883F395FB208_12</vt:lpwstr>
  </property>
</Properties>
</file>